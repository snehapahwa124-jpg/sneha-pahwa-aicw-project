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0654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91440"/>
            <a:ext cx="4572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LinkedIn  </a:t>
            </a:r>
            <a:r>
              <a:rPr lang="en-US" sz="950" err="1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r>
              <a:rPr lang="en-US" sz="9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endParaRPr lang="en-US" sz="950"/>
          </a:p>
        </p:txBody>
      </p:sp>
      <p:sp>
        <p:nvSpPr>
          <p:cNvPr id="5" name="Shape 3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0" y="0"/>
            <a:ext cx="502920" cy="51435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Shape 7"/>
          <p:cNvSpPr/>
          <p:nvPr/>
        </p:nvSpPr>
        <p:spPr>
          <a:xfrm>
            <a:off x="6126480" y="3108960"/>
            <a:ext cx="2834640" cy="109728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0" y="3291840"/>
            <a:ext cx="2468880" cy="109728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1" name="Shape 9"/>
          <p:cNvSpPr/>
          <p:nvPr/>
        </p:nvSpPr>
        <p:spPr>
          <a:xfrm>
            <a:off x="6675120" y="3474720"/>
            <a:ext cx="2103120" cy="109728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96012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/>
              <a:t>“Smart Payroll Insights: Transforming HR Data into Financial Intelligence”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320040" y="2578608"/>
            <a:ext cx="3840480" cy="38404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4" name="Shape 12"/>
          <p:cNvSpPr/>
          <p:nvPr/>
        </p:nvSpPr>
        <p:spPr>
          <a:xfrm>
            <a:off x="4160520" y="2578608"/>
            <a:ext cx="274320" cy="384048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257860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R E S E N T A T I O N   2 0 2 6</a:t>
            </a:r>
            <a:endParaRPr lang="en-US" sz="1300"/>
          </a:p>
        </p:txBody>
      </p:sp>
      <p:sp>
        <p:nvSpPr>
          <p:cNvPr id="16" name="Shape 14"/>
          <p:cNvSpPr/>
          <p:nvPr/>
        </p:nvSpPr>
        <p:spPr>
          <a:xfrm>
            <a:off x="320040" y="3611880"/>
            <a:ext cx="411480" cy="411480"/>
          </a:xfrm>
          <a:prstGeom prst="ellipse">
            <a:avLst/>
          </a:prstGeom>
          <a:solidFill>
            <a:srgbClr val="ECEFF1"/>
          </a:solidFill>
          <a:ln w="19050">
            <a:solidFill>
              <a:srgbClr val="1B3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621024"/>
            <a:ext cx="411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000000"/>
                </a:solidFill>
              </a:rPr>
              <a:t>👤</a:t>
            </a:r>
            <a:endParaRPr lang="en-US" sz="1600"/>
          </a:p>
        </p:txBody>
      </p:sp>
      <p:sp>
        <p:nvSpPr>
          <p:cNvPr id="18" name="Text 16"/>
          <p:cNvSpPr/>
          <p:nvPr/>
        </p:nvSpPr>
        <p:spPr>
          <a:xfrm>
            <a:off x="777240" y="361188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</a:t>
            </a:r>
            <a:endParaRPr lang="en-US" sz="900"/>
          </a:p>
        </p:txBody>
      </p:sp>
      <p:sp>
        <p:nvSpPr>
          <p:cNvPr id="19" name="Text 17"/>
          <p:cNvSpPr/>
          <p:nvPr/>
        </p:nvSpPr>
        <p:spPr>
          <a:xfrm>
            <a:off x="777240" y="37947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Sneha Pahwa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834640" y="3611880"/>
            <a:ext cx="411480" cy="411480"/>
          </a:xfrm>
          <a:prstGeom prst="ellipse">
            <a:avLst/>
          </a:prstGeom>
          <a:solidFill>
            <a:srgbClr val="ECEFF1"/>
          </a:solidFill>
          <a:ln w="19050">
            <a:solidFill>
              <a:srgbClr val="1B3A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34640" y="3621024"/>
            <a:ext cx="411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000000"/>
                </a:solidFill>
              </a:rPr>
              <a:t>✉</a:t>
            </a:r>
            <a:endParaRPr lang="en-US" sz="1600"/>
          </a:p>
        </p:txBody>
      </p:sp>
      <p:sp>
        <p:nvSpPr>
          <p:cNvPr id="22" name="Text 20"/>
          <p:cNvSpPr/>
          <p:nvPr/>
        </p:nvSpPr>
        <p:spPr>
          <a:xfrm>
            <a:off x="3291840" y="361188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Email</a:t>
            </a:r>
            <a:endParaRPr lang="en-US" sz="900"/>
          </a:p>
        </p:txBody>
      </p:sp>
      <p:sp>
        <p:nvSpPr>
          <p:cNvPr id="23" name="Text 21"/>
          <p:cNvSpPr/>
          <p:nvPr/>
        </p:nvSpPr>
        <p:spPr>
          <a:xfrm>
            <a:off x="3246120" y="3794760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snehapahwa124@gmail.com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7722" y="4384041"/>
            <a:ext cx="411480" cy="411480"/>
          </a:xfrm>
          <a:prstGeom prst="ellipse">
            <a:avLst/>
          </a:prstGeom>
          <a:solidFill>
            <a:srgbClr val="ECEFF1"/>
          </a:solidFill>
          <a:ln w="19050">
            <a:solidFill>
              <a:srgbClr val="1B3A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7722" y="4393185"/>
            <a:ext cx="411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000000"/>
                </a:solidFill>
              </a:rPr>
              <a:t>📖</a:t>
            </a:r>
            <a:endParaRPr lang="en-US" sz="1600"/>
          </a:p>
        </p:txBody>
      </p:sp>
      <p:sp>
        <p:nvSpPr>
          <p:cNvPr id="27" name="Text 25"/>
          <p:cNvSpPr/>
          <p:nvPr/>
        </p:nvSpPr>
        <p:spPr>
          <a:xfrm>
            <a:off x="782333" y="447886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Umameheswari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3A8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57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/>
          </a:p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34440"/>
            <a:ext cx="4389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3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of the Project</a:t>
            </a:r>
            <a:endParaRPr lang="en-US" sz="1300"/>
          </a:p>
        </p:txBody>
      </p:sp>
      <p:sp>
        <p:nvSpPr>
          <p:cNvPr id="7" name="Text 5"/>
          <p:cNvSpPr/>
          <p:nvPr/>
        </p:nvSpPr>
        <p:spPr>
          <a:xfrm>
            <a:off x="457200" y="1664208"/>
            <a:ext cx="4389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3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/>
          </a:p>
        </p:txBody>
      </p:sp>
      <p:sp>
        <p:nvSpPr>
          <p:cNvPr id="8" name="Text 6"/>
          <p:cNvSpPr/>
          <p:nvPr/>
        </p:nvSpPr>
        <p:spPr>
          <a:xfrm>
            <a:off x="457200" y="2093976"/>
            <a:ext cx="4389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3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300"/>
          </a:p>
        </p:txBody>
      </p:sp>
      <p:sp>
        <p:nvSpPr>
          <p:cNvPr id="9" name="Text 7"/>
          <p:cNvSpPr/>
          <p:nvPr/>
        </p:nvSpPr>
        <p:spPr>
          <a:xfrm>
            <a:off x="457200" y="2523744"/>
            <a:ext cx="4389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3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/>
          </a:p>
        </p:txBody>
      </p:sp>
      <p:sp>
        <p:nvSpPr>
          <p:cNvPr id="10" name="Text 8"/>
          <p:cNvSpPr/>
          <p:nvPr/>
        </p:nvSpPr>
        <p:spPr>
          <a:xfrm>
            <a:off x="457200" y="2953512"/>
            <a:ext cx="4389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3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of the Project</a:t>
            </a:r>
            <a:endParaRPr lang="en-US" sz="130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4389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3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Video of Project</a:t>
            </a:r>
            <a:endParaRPr lang="en-US" sz="1300"/>
          </a:p>
        </p:txBody>
      </p:sp>
      <p:sp>
        <p:nvSpPr>
          <p:cNvPr id="12" name="Text 10"/>
          <p:cNvSpPr/>
          <p:nvPr/>
        </p:nvSpPr>
        <p:spPr>
          <a:xfrm>
            <a:off x="457200" y="3813048"/>
            <a:ext cx="4389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3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/>
          </a:p>
        </p:txBody>
      </p:sp>
      <p:sp>
        <p:nvSpPr>
          <p:cNvPr id="13" name="Text 11"/>
          <p:cNvSpPr/>
          <p:nvPr/>
        </p:nvSpPr>
        <p:spPr>
          <a:xfrm>
            <a:off x="457200" y="4242816"/>
            <a:ext cx="4389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3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3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57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/>
          </a:p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7BA53C9D-AAA2-05C7-14B1-F7DA481CA53F}"/>
              </a:ext>
            </a:extLst>
          </p:cNvPr>
          <p:cNvSpPr/>
          <p:nvPr/>
        </p:nvSpPr>
        <p:spPr>
          <a:xfrm>
            <a:off x="457200" y="1284468"/>
            <a:ext cx="4114800" cy="3022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en-US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The project </a:t>
            </a:r>
            <a:r>
              <a:rPr lang="en-US" sz="1400" b="1" dirty="0"/>
              <a:t>“Smart Payroll Insights: Transforming HR Data into Financial Intelligence”</a:t>
            </a:r>
            <a:r>
              <a:rPr lang="en-US" sz="1400" dirty="0"/>
              <a:t> aims to clean, analyze, and convert payroll data into meaningful financial insights.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The objective is to improve payroll accuracy, transparency, and decision-making in HR and finance.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Tools used include </a:t>
            </a:r>
            <a:r>
              <a:rPr lang="en-US" sz="1400" b="1" dirty="0"/>
              <a:t>Microsoft Excel</a:t>
            </a:r>
            <a:r>
              <a:rPr lang="en-US" sz="1400" dirty="0"/>
              <a:t> for data cleaning and analysis, </a:t>
            </a:r>
            <a:r>
              <a:rPr lang="en-US" sz="1400" b="1" dirty="0"/>
              <a:t>Power BI</a:t>
            </a:r>
            <a:r>
              <a:rPr lang="en-US" sz="1400" dirty="0"/>
              <a:t> for visualization, and </a:t>
            </a:r>
            <a:r>
              <a:rPr lang="en-US" sz="1400" b="1" dirty="0"/>
              <a:t>AI tools like </a:t>
            </a:r>
            <a:r>
              <a:rPr lang="en-US" sz="1400" b="1" dirty="0" err="1"/>
              <a:t>Chatgpt</a:t>
            </a:r>
            <a:r>
              <a:rPr lang="en-US" sz="1400" dirty="0"/>
              <a:t> for automation and insight generation.</a:t>
            </a:r>
          </a:p>
          <a:p>
            <a:endParaRPr lang="en-US" sz="1400" dirty="0"/>
          </a:p>
          <a:p>
            <a:r>
              <a:rPr lang="en-US" sz="1200" dirty="0"/>
              <a:t>The project helps identify salary trends, payroll   expenses, and data errors, enabling better financial planning and workforce management.</a:t>
            </a:r>
          </a:p>
          <a:p>
            <a:r>
              <a:rPr lang="en-US" sz="1200" dirty="0"/>
              <a:t>A key highlight is the integration of AI with traditional tools to create an efficient, data-driven payroll analysis system.</a:t>
            </a:r>
          </a:p>
          <a:p>
            <a:pPr marL="0" indent="0">
              <a:buNone/>
            </a:pPr>
            <a:endParaRPr lang="en-US" sz="1300" dirty="0"/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FBB90A13-7196-D2E6-20B4-845F03152899}"/>
              </a:ext>
            </a:extLst>
          </p:cNvPr>
          <p:cNvSpPr/>
          <p:nvPr/>
        </p:nvSpPr>
        <p:spPr>
          <a:xfrm>
            <a:off x="457200" y="1664208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1" name="Text 14">
            <a:extLst>
              <a:ext uri="{FF2B5EF4-FFF2-40B4-BE49-F238E27FC236}">
                <a16:creationId xmlns:a16="http://schemas.microsoft.com/office/drawing/2014/main" id="{4BCD0967-8763-EBD0-918B-8930803EE40C}"/>
              </a:ext>
            </a:extLst>
          </p:cNvPr>
          <p:cNvSpPr/>
          <p:nvPr/>
        </p:nvSpPr>
        <p:spPr>
          <a:xfrm>
            <a:off x="457200" y="2093976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>
              <a:solidFill>
                <a:srgbClr val="1A1A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300" dirty="0">
              <a:solidFill>
                <a:srgbClr val="1A1A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300" dirty="0">
              <a:solidFill>
                <a:srgbClr val="1A1A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300" dirty="0">
              <a:solidFill>
                <a:srgbClr val="1A1A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300" dirty="0"/>
          </a:p>
        </p:txBody>
      </p:sp>
      <p:sp>
        <p:nvSpPr>
          <p:cNvPr id="22" name="Text 15">
            <a:extLst>
              <a:ext uri="{FF2B5EF4-FFF2-40B4-BE49-F238E27FC236}">
                <a16:creationId xmlns:a16="http://schemas.microsoft.com/office/drawing/2014/main" id="{A079AF38-4D82-61EA-A6DE-714C1225E65B}"/>
              </a:ext>
            </a:extLst>
          </p:cNvPr>
          <p:cNvSpPr/>
          <p:nvPr/>
        </p:nvSpPr>
        <p:spPr>
          <a:xfrm>
            <a:off x="457200" y="2523744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E42052B7-1005-7C95-89EC-CBD8D61EEAEE}"/>
              </a:ext>
            </a:extLst>
          </p:cNvPr>
          <p:cNvSpPr/>
          <p:nvPr/>
        </p:nvSpPr>
        <p:spPr>
          <a:xfrm>
            <a:off x="457200" y="3547872"/>
            <a:ext cx="4114800" cy="11133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 dirty="0"/>
          </a:p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7772400" y="457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/>
          </a:p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1234440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r>
              <a:rPr lang="en-US" sz="1400" b="1" dirty="0"/>
              <a:t>Core Problem:</a:t>
            </a:r>
            <a:r>
              <a:rPr lang="en-US" sz="1400" dirty="0"/>
              <a:t> Unstructured and error-prone payroll data limits accurate analysis and decision-making. </a:t>
            </a:r>
          </a:p>
          <a:p>
            <a:endParaRPr lang="en-US" sz="1400" b="1" dirty="0"/>
          </a:p>
          <a:p>
            <a:r>
              <a:rPr lang="en-US" sz="1400" b="1" dirty="0"/>
              <a:t>Significance:</a:t>
            </a:r>
            <a:r>
              <a:rPr lang="en-US" sz="1400" dirty="0"/>
              <a:t> Leads to salary errors, compliance risks, and reduced employee trust. </a:t>
            </a:r>
          </a:p>
          <a:p>
            <a:endParaRPr lang="en-US" sz="1400" b="1" dirty="0"/>
          </a:p>
          <a:p>
            <a:r>
              <a:rPr lang="en-US" sz="1400" b="1" dirty="0"/>
              <a:t>Affected Users:</a:t>
            </a:r>
            <a:r>
              <a:rPr lang="en-US" sz="1400" dirty="0"/>
              <a:t> HR teams, finance departments, employees, and management. </a:t>
            </a:r>
          </a:p>
          <a:p>
            <a:endParaRPr lang="en-US" sz="1400" b="1" dirty="0"/>
          </a:p>
          <a:p>
            <a:r>
              <a:rPr lang="en-US" sz="1400" b="1" dirty="0"/>
              <a:t>Limitations:</a:t>
            </a:r>
            <a:r>
              <a:rPr lang="en-US" sz="1400" dirty="0"/>
              <a:t> Manual processes, low transparency, and limited use of analytics/AI tools. </a:t>
            </a:r>
          </a:p>
          <a:p>
            <a:endParaRPr lang="en-US" sz="1400" b="1" dirty="0"/>
          </a:p>
          <a:p>
            <a:r>
              <a:rPr lang="en-US" sz="1400" b="1" dirty="0"/>
              <a:t>Scope:</a:t>
            </a:r>
            <a:r>
              <a:rPr lang="en-US" sz="1400" dirty="0"/>
              <a:t> Focus on data cleaning, analysis, and visualization using Excel, Power BI, and AI tools (no advanced ML or real-time systems). </a:t>
            </a:r>
          </a:p>
          <a:p>
            <a:pPr marL="0" indent="0">
              <a:buNone/>
            </a:pP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1664208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2093976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2523744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57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/>
          </a:p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230459" y="371707"/>
            <a:ext cx="8319181" cy="6889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14" name="Text 12"/>
          <p:cNvSpPr/>
          <p:nvPr/>
        </p:nvSpPr>
        <p:spPr>
          <a:xfrm>
            <a:off x="230459" y="892098"/>
            <a:ext cx="4467921" cy="37914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b="1" dirty="0">
                <a:latin typeface="Arial" panose="020B0604020202020204" pitchFamily="34" charset="0"/>
              </a:rPr>
              <a:t>Approach:</a:t>
            </a:r>
            <a:r>
              <a:rPr lang="en-US" altLang="en-US" sz="1200" dirty="0">
                <a:latin typeface="Arial" panose="020B0604020202020204" pitchFamily="34" charset="0"/>
              </a:rPr>
              <a:t> Transform raw payroll data into structured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latin typeface="Arial" panose="020B0604020202020204" pitchFamily="34" charset="0"/>
              </a:rPr>
              <a:t>financial insights using data cleaning, analysis, and visualization.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2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b="1" dirty="0">
                <a:latin typeface="Arial" panose="020B0604020202020204" pitchFamily="34" charset="0"/>
              </a:rPr>
              <a:t>Methodology:</a:t>
            </a:r>
            <a:r>
              <a:rPr lang="en-US" altLang="en-US" sz="1200" dirty="0">
                <a:latin typeface="Arial" panose="020B0604020202020204" pitchFamily="34" charset="0"/>
              </a:rPr>
              <a:t> Data collection → cleaning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latin typeface="Arial" panose="020B0604020202020204" pitchFamily="34" charset="0"/>
              </a:rPr>
              <a:t>(remove duplicates, handle missing values)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latin typeface="Arial" panose="020B0604020202020204" pitchFamily="34" charset="0"/>
              </a:rPr>
              <a:t>→ analysis (formulas) → dashboard creation.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2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b="1" dirty="0">
                <a:latin typeface="Arial" panose="020B0604020202020204" pitchFamily="34" charset="0"/>
              </a:rPr>
              <a:t>Tools Used:</a:t>
            </a:r>
            <a:r>
              <a:rPr lang="en-US" altLang="en-US" sz="1200" dirty="0">
                <a:latin typeface="Arial" panose="020B0604020202020204" pitchFamily="34" charset="0"/>
              </a:rPr>
              <a:t> Microsoft Excel, Power BI, and AI tools (</a:t>
            </a:r>
            <a:r>
              <a:rPr lang="en-US" altLang="en-US" sz="1200" dirty="0" err="1">
                <a:latin typeface="Arial" panose="020B0604020202020204" pitchFamily="34" charset="0"/>
              </a:rPr>
              <a:t>Chatgpt</a:t>
            </a:r>
            <a:r>
              <a:rPr lang="en-US" altLang="en-US" sz="1200" dirty="0">
                <a:latin typeface="Arial" panose="020B0604020202020204" pitchFamily="34" charset="0"/>
              </a:rPr>
              <a:t>).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2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b="1" dirty="0">
                <a:latin typeface="Arial" panose="020B0604020202020204" pitchFamily="34" charset="0"/>
              </a:rPr>
              <a:t>Key Steps:</a:t>
            </a:r>
            <a:r>
              <a:rPr lang="en-US" altLang="en-US" sz="1200" dirty="0">
                <a:latin typeface="Arial" panose="020B0604020202020204" pitchFamily="34" charset="0"/>
              </a:rPr>
              <a:t> Data preprocessing, payroll analysis, trend identification,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latin typeface="Arial" panose="020B0604020202020204" pitchFamily="34" charset="0"/>
              </a:rPr>
              <a:t> and interactive dashboard development.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2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b="1" dirty="0">
                <a:latin typeface="Arial" panose="020B0604020202020204" pitchFamily="34" charset="0"/>
              </a:rPr>
              <a:t>Benefits:</a:t>
            </a:r>
            <a:r>
              <a:rPr lang="en-US" altLang="en-US" sz="1200" dirty="0">
                <a:latin typeface="Arial" panose="020B0604020202020204" pitchFamily="34" charset="0"/>
              </a:rPr>
              <a:t> Improved accuracy, better transparency, reduced errors,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latin typeface="Arial" panose="020B0604020202020204" pitchFamily="34" charset="0"/>
              </a:rPr>
              <a:t> and data-driven decision-making.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2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b="1" dirty="0">
                <a:latin typeface="Arial" panose="020B0604020202020204" pitchFamily="34" charset="0"/>
              </a:rPr>
              <a:t>Innovation:</a:t>
            </a:r>
            <a:r>
              <a:rPr lang="en-US" altLang="en-US" sz="1200" dirty="0">
                <a:latin typeface="Arial" panose="020B0604020202020204" pitchFamily="34" charset="0"/>
              </a:rPr>
              <a:t> Integration of AI tools with traditional Excel-based analysis for faster and smarter insights. </a:t>
            </a:r>
          </a:p>
          <a:p>
            <a:pPr marL="0" indent="0">
              <a:buNone/>
            </a:pP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128016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57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/>
          </a:p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097280"/>
            <a:ext cx="4114800" cy="38404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0" y="1097280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13385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Input / Source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365760" y="155448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Raw payroll dataset generated using ChatGPT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Dataset stored in Excel format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Fields include: Department, Job Role, Designation, Basic Pay, allowances, Gross salary Deductions, Net Salary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Used as the primary data source for payroll analysis </a:t>
            </a:r>
          </a:p>
          <a:p>
            <a:pPr marL="0" indent="0">
              <a:buNone/>
            </a:pP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09160" y="1097280"/>
            <a:ext cx="4114800" cy="38404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1" name="Shape 9"/>
          <p:cNvSpPr/>
          <p:nvPr/>
        </p:nvSpPr>
        <p:spPr>
          <a:xfrm>
            <a:off x="8641080" y="1097280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113385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/ Analysis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4709160" y="1444752"/>
            <a:ext cx="411480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Data cleaned in Excel (duplicates removed, </a:t>
            </a:r>
            <a:r>
              <a:rPr lang="en-IN" sz="1200" dirty="0"/>
              <a:t>missing values handled)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Data types corrected (numeric fields formatted properly)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Calculated measures created in Power BI using DAX:</a:t>
            </a:r>
          </a:p>
          <a:p>
            <a:r>
              <a:rPr lang="en-US" sz="1200" dirty="0"/>
              <a:t>        Total Payroll Cost </a:t>
            </a:r>
          </a:p>
          <a:p>
            <a:r>
              <a:rPr lang="en-US" sz="1200" dirty="0"/>
              <a:t>        Average Salary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Data aggregated for department-wise and role-wise analysis </a:t>
            </a:r>
          </a:p>
          <a:p>
            <a:pPr marL="0" indent="0">
              <a:buNone/>
            </a:pP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2926080"/>
            <a:ext cx="4114800" cy="38404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Shape 13"/>
          <p:cNvSpPr/>
          <p:nvPr/>
        </p:nvSpPr>
        <p:spPr>
          <a:xfrm>
            <a:off x="4206240" y="2926080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96265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Tool Integration</a:t>
            </a:r>
            <a:endParaRPr lang="en-US" sz="1200"/>
          </a:p>
        </p:txBody>
      </p:sp>
      <p:sp>
        <p:nvSpPr>
          <p:cNvPr id="17" name="Text 15"/>
          <p:cNvSpPr/>
          <p:nvPr/>
        </p:nvSpPr>
        <p:spPr>
          <a:xfrm>
            <a:off x="365760" y="338328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ChatGPT used to generate and structure the dataset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Excel used for initial data cleaning and preprocessing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Power BI used for data modeling and visualization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DAX used for KPI calculations and insights generation</a:t>
            </a:r>
          </a:p>
          <a:p>
            <a:pPr marL="0" indent="0">
              <a:buNone/>
            </a:pP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09160" y="2926080"/>
            <a:ext cx="4114800" cy="38404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9" name="Shape 17"/>
          <p:cNvSpPr/>
          <p:nvPr/>
        </p:nvSpPr>
        <p:spPr>
          <a:xfrm>
            <a:off x="8641080" y="2926080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20" name="Text 18"/>
          <p:cNvSpPr/>
          <p:nvPr/>
        </p:nvSpPr>
        <p:spPr>
          <a:xfrm>
            <a:off x="4800600" y="296265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/ Dashboard</a:t>
            </a:r>
            <a:endParaRPr lang="en-US" sz="1200"/>
          </a:p>
        </p:txBody>
      </p:sp>
      <p:sp>
        <p:nvSpPr>
          <p:cNvPr id="21" name="Text 19"/>
          <p:cNvSpPr/>
          <p:nvPr/>
        </p:nvSpPr>
        <p:spPr>
          <a:xfrm>
            <a:off x="4800600" y="338328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Interactive Power BI Dashboard created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KPIs displayed: Total Payroll Cost, Total Employees,</a:t>
            </a:r>
          </a:p>
          <a:p>
            <a:r>
              <a:rPr lang="en-IN" sz="1100" dirty="0"/>
              <a:t>      Average Salary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Visuals include:</a:t>
            </a:r>
          </a:p>
          <a:p>
            <a:r>
              <a:rPr lang="en-US" sz="1100" dirty="0"/>
              <a:t>      Department-wise Payroll (Clustered Column Chart) </a:t>
            </a:r>
          </a:p>
          <a:p>
            <a:r>
              <a:rPr lang="en-US" sz="1100" dirty="0"/>
              <a:t>      Top Departments by Cost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Slicers added: Department, Designation</a:t>
            </a:r>
          </a:p>
          <a:p>
            <a:pPr marL="0" indent="0">
              <a:buNone/>
            </a:pP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57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/>
          </a:p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of Project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1556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Here's the list of some demo screenshots / features of the project:</a:t>
            </a:r>
            <a:endParaRPr lang="en-US" sz="1200"/>
          </a:p>
        </p:txBody>
      </p:sp>
      <p:sp>
        <p:nvSpPr>
          <p:cNvPr id="7" name="Shape 5"/>
          <p:cNvSpPr/>
          <p:nvPr/>
        </p:nvSpPr>
        <p:spPr>
          <a:xfrm>
            <a:off x="978408" y="1463040"/>
            <a:ext cx="1371600" cy="1371600"/>
          </a:xfrm>
          <a:prstGeom prst="ellipse">
            <a:avLst/>
          </a:prstGeom>
          <a:solidFill>
            <a:srgbClr val="ECEFF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46304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>
                <a:solidFill>
                  <a:srgbClr val="000000"/>
                </a:solidFill>
              </a:rPr>
              <a:t>🖼</a:t>
            </a:r>
            <a:endParaRPr lang="en-US" sz="3600"/>
          </a:p>
        </p:txBody>
      </p:sp>
      <p:sp>
        <p:nvSpPr>
          <p:cNvPr id="9" name="Shape 7"/>
          <p:cNvSpPr/>
          <p:nvPr/>
        </p:nvSpPr>
        <p:spPr>
          <a:xfrm>
            <a:off x="274320" y="2011680"/>
            <a:ext cx="2788920" cy="2651760"/>
          </a:xfrm>
          <a:prstGeom prst="rect">
            <a:avLst/>
          </a:prstGeom>
          <a:solidFill>
            <a:srgbClr val="1565C0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4320" y="2048256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11480" y="312724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922776" y="1463040"/>
            <a:ext cx="1371600" cy="1371600"/>
          </a:xfrm>
          <a:prstGeom prst="ellipse">
            <a:avLst/>
          </a:prstGeom>
          <a:solidFill>
            <a:srgbClr val="ECEFF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22776" y="146304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>
                <a:solidFill>
                  <a:srgbClr val="000000"/>
                </a:solidFill>
              </a:rPr>
              <a:t>🖼</a:t>
            </a:r>
            <a:endParaRPr lang="en-US" sz="3600"/>
          </a:p>
        </p:txBody>
      </p:sp>
      <p:sp>
        <p:nvSpPr>
          <p:cNvPr id="14" name="Shape 12"/>
          <p:cNvSpPr/>
          <p:nvPr/>
        </p:nvSpPr>
        <p:spPr>
          <a:xfrm>
            <a:off x="3218688" y="2011680"/>
            <a:ext cx="2788920" cy="2651760"/>
          </a:xfrm>
          <a:prstGeom prst="rect">
            <a:avLst/>
          </a:prstGeom>
          <a:solidFill>
            <a:srgbClr val="1565C0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18688" y="1984248"/>
            <a:ext cx="278892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355848" y="312724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867144" y="1463040"/>
            <a:ext cx="1371600" cy="1371600"/>
          </a:xfrm>
          <a:prstGeom prst="ellipse">
            <a:avLst/>
          </a:prstGeom>
          <a:solidFill>
            <a:srgbClr val="ECEFF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67144" y="146304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>
                <a:solidFill>
                  <a:srgbClr val="000000"/>
                </a:solidFill>
              </a:rPr>
              <a:t>🖼</a:t>
            </a:r>
            <a:endParaRPr lang="en-US" sz="3600"/>
          </a:p>
        </p:txBody>
      </p:sp>
      <p:sp>
        <p:nvSpPr>
          <p:cNvPr id="19" name="Shape 17"/>
          <p:cNvSpPr/>
          <p:nvPr/>
        </p:nvSpPr>
        <p:spPr>
          <a:xfrm>
            <a:off x="6163056" y="2011680"/>
            <a:ext cx="2788920" cy="2651760"/>
          </a:xfrm>
          <a:prstGeom prst="rect">
            <a:avLst/>
          </a:prstGeom>
          <a:solidFill>
            <a:srgbClr val="1565C0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163056" y="1691640"/>
            <a:ext cx="2788920" cy="11978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00216" y="312724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</a:t>
            </a:r>
            <a:endParaRPr lang="en-US" sz="105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C12F3010-A13F-5053-0863-207BC86BEA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483005"/>
            <a:ext cx="2788920" cy="218043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53676F6-960D-B312-18AC-203E3EF088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8688" y="2496312"/>
            <a:ext cx="2788920" cy="2167128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02B18DDE-D9AD-CD8A-D921-11B9C2C6A8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3056" y="2483005"/>
            <a:ext cx="2788920" cy="218453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57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/>
          </a:p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of Project Demo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685800"/>
            <a:ext cx="8412480" cy="3977640"/>
          </a:xfrm>
          <a:prstGeom prst="rect">
            <a:avLst/>
          </a:prstGeom>
          <a:solidFill>
            <a:srgbClr val="ECEFF1"/>
          </a:solidFill>
          <a:ln w="25400">
            <a:solidFill>
              <a:srgbClr val="1B3A8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685800"/>
            <a:ext cx="8412480" cy="38404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777240"/>
            <a:ext cx="164592" cy="16459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777240"/>
            <a:ext cx="164592" cy="164592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0" name="Shape 8"/>
          <p:cNvSpPr/>
          <p:nvPr/>
        </p:nvSpPr>
        <p:spPr>
          <a:xfrm>
            <a:off x="960120" y="777240"/>
            <a:ext cx="164592" cy="164592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1" name="Shape 9"/>
          <p:cNvSpPr/>
          <p:nvPr/>
        </p:nvSpPr>
        <p:spPr>
          <a:xfrm>
            <a:off x="1371600" y="777240"/>
            <a:ext cx="502920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89888" y="768096"/>
            <a:ext cx="49926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[https://your-project-demo-link.com]</a:t>
            </a:r>
            <a:endParaRPr lang="en-US" sz="900"/>
          </a:p>
        </p:txBody>
      </p:sp>
      <p:sp>
        <p:nvSpPr>
          <p:cNvPr id="13" name="Shape 11"/>
          <p:cNvSpPr/>
          <p:nvPr/>
        </p:nvSpPr>
        <p:spPr>
          <a:xfrm>
            <a:off x="3749040" y="1828800"/>
            <a:ext cx="1645920" cy="1645920"/>
          </a:xfrm>
          <a:prstGeom prst="ellipse">
            <a:avLst/>
          </a:prstGeom>
          <a:solidFill>
            <a:srgbClr val="1B3A8A">
              <a:alpha val="8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749040" y="182880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>
                <a:solidFill>
                  <a:srgbClr val="FFFFFF"/>
                </a:solidFill>
              </a:rPr>
              <a:t>▶</a:t>
            </a:r>
            <a:endParaRPr lang="en-US" sz="4800"/>
          </a:p>
        </p:txBody>
      </p:sp>
      <p:sp>
        <p:nvSpPr>
          <p:cNvPr id="15" name="Text 13"/>
          <p:cNvSpPr/>
          <p:nvPr/>
        </p:nvSpPr>
        <p:spPr>
          <a:xfrm>
            <a:off x="914400" y="37947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your project demo video.</a:t>
            </a:r>
            <a:endParaRPr lang="en-US" sz="1100"/>
          </a:p>
          <a:p>
            <a:pPr marL="0" indent="0" algn="ctr">
              <a:buNone/>
            </a:pPr>
            <a:r>
              <a:rPr lang="en-US" sz="1100" i="1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embed a video your live project.]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57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/>
          </a:p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0" y="123444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of the Project</a:t>
            </a:r>
            <a:endParaRPr lang="en-US" sz="1150"/>
          </a:p>
        </p:txBody>
      </p:sp>
      <p:sp>
        <p:nvSpPr>
          <p:cNvPr id="7" name="Text 5"/>
          <p:cNvSpPr/>
          <p:nvPr/>
        </p:nvSpPr>
        <p:spPr>
          <a:xfrm>
            <a:off x="4754880" y="1636776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50"/>
          </a:p>
        </p:txBody>
      </p:sp>
      <p:sp>
        <p:nvSpPr>
          <p:cNvPr id="8" name="Text 6"/>
          <p:cNvSpPr/>
          <p:nvPr/>
        </p:nvSpPr>
        <p:spPr>
          <a:xfrm>
            <a:off x="4754880" y="203911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150"/>
          </a:p>
        </p:txBody>
      </p:sp>
      <p:sp>
        <p:nvSpPr>
          <p:cNvPr id="9" name="Text 7"/>
          <p:cNvSpPr/>
          <p:nvPr/>
        </p:nvSpPr>
        <p:spPr>
          <a:xfrm>
            <a:off x="4754880" y="2441448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50"/>
          </a:p>
        </p:txBody>
      </p:sp>
      <p:sp>
        <p:nvSpPr>
          <p:cNvPr id="10" name="Text 8"/>
          <p:cNvSpPr/>
          <p:nvPr/>
        </p:nvSpPr>
        <p:spPr>
          <a:xfrm>
            <a:off x="4754880" y="2843784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of the Project</a:t>
            </a:r>
            <a:endParaRPr lang="en-US" sz="1150"/>
          </a:p>
        </p:txBody>
      </p:sp>
      <p:sp>
        <p:nvSpPr>
          <p:cNvPr id="11" name="Text 9"/>
          <p:cNvSpPr/>
          <p:nvPr/>
        </p:nvSpPr>
        <p:spPr>
          <a:xfrm>
            <a:off x="4754880" y="324612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Video of Project</a:t>
            </a:r>
            <a:endParaRPr lang="en-US" sz="1150"/>
          </a:p>
        </p:txBody>
      </p:sp>
      <p:sp>
        <p:nvSpPr>
          <p:cNvPr id="12" name="Text 10"/>
          <p:cNvSpPr/>
          <p:nvPr/>
        </p:nvSpPr>
        <p:spPr>
          <a:xfrm>
            <a:off x="4754880" y="3648456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Conclusion</a:t>
            </a:r>
            <a:endParaRPr lang="en-US" sz="1150"/>
          </a:p>
        </p:txBody>
      </p:sp>
      <p:sp>
        <p:nvSpPr>
          <p:cNvPr id="13" name="Text 11"/>
          <p:cNvSpPr/>
          <p:nvPr/>
        </p:nvSpPr>
        <p:spPr>
          <a:xfrm>
            <a:off x="4754880" y="405079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150"/>
          </a:p>
        </p:txBody>
      </p:sp>
      <p:sp>
        <p:nvSpPr>
          <p:cNvPr id="14" name="Text 12"/>
          <p:cNvSpPr/>
          <p:nvPr/>
        </p:nvSpPr>
        <p:spPr>
          <a:xfrm>
            <a:off x="365760" y="1234440"/>
            <a:ext cx="42062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dirty="0"/>
              <a:t>This project developed an interactive payroll dashboard using Excel and Power BI to analyze employee salary data.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Key KPIs like Total Payroll Cost, Average Salary, and Total Employees were created, along with visualizations for department-wise analysis.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The dashboard helps identify high-cost areas and supports better decision-making. Overall, the project successfully achieved its objectives and demonstrates the value of data analytics in improving payroll management and organizational planning.</a:t>
            </a:r>
          </a:p>
          <a:p>
            <a:pPr marL="0" indent="0">
              <a:buNone/>
            </a:pP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46320" y="777240"/>
            <a:ext cx="3931920" cy="3931920"/>
          </a:xfrm>
          <a:prstGeom prst="rect">
            <a:avLst/>
          </a:prstGeom>
          <a:solidFill>
            <a:srgbClr val="F7F9FC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94960" y="1005840"/>
            <a:ext cx="2834640" cy="2834640"/>
          </a:xfrm>
          <a:prstGeom prst="ellipse">
            <a:avLst/>
          </a:prstGeom>
          <a:solidFill>
            <a:srgbClr val="1B3A8A"/>
          </a:solidFill>
          <a:ln/>
        </p:spPr>
      </p:sp>
      <p:sp>
        <p:nvSpPr>
          <p:cNvPr id="17" name="Text 15"/>
          <p:cNvSpPr/>
          <p:nvPr/>
        </p:nvSpPr>
        <p:spPr>
          <a:xfrm>
            <a:off x="5394960" y="1005840"/>
            <a:ext cx="28346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>
                <a:solidFill>
                  <a:srgbClr val="000000"/>
                </a:solidFill>
              </a:rPr>
              <a:t>✅</a:t>
            </a:r>
            <a:endParaRPr lang="en-US" sz="6000"/>
          </a:p>
        </p:txBody>
      </p:sp>
      <p:sp>
        <p:nvSpPr>
          <p:cNvPr id="18" name="Shape 16"/>
          <p:cNvSpPr/>
          <p:nvPr/>
        </p:nvSpPr>
        <p:spPr>
          <a:xfrm>
            <a:off x="5303520" y="3474720"/>
            <a:ext cx="3017520" cy="5029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9" name="Text 17"/>
          <p:cNvSpPr/>
          <p:nvPr/>
        </p:nvSpPr>
        <p:spPr>
          <a:xfrm>
            <a:off x="5303520" y="34747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57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/>
          </a:p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0" y="123444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of the Project</a:t>
            </a:r>
            <a:endParaRPr lang="en-US" sz="1150"/>
          </a:p>
        </p:txBody>
      </p:sp>
      <p:sp>
        <p:nvSpPr>
          <p:cNvPr id="7" name="Text 5"/>
          <p:cNvSpPr/>
          <p:nvPr/>
        </p:nvSpPr>
        <p:spPr>
          <a:xfrm>
            <a:off x="4754880" y="1636776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50"/>
          </a:p>
        </p:txBody>
      </p:sp>
      <p:sp>
        <p:nvSpPr>
          <p:cNvPr id="8" name="Text 6"/>
          <p:cNvSpPr/>
          <p:nvPr/>
        </p:nvSpPr>
        <p:spPr>
          <a:xfrm>
            <a:off x="4754880" y="203911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150"/>
          </a:p>
        </p:txBody>
      </p:sp>
      <p:sp>
        <p:nvSpPr>
          <p:cNvPr id="9" name="Text 7"/>
          <p:cNvSpPr/>
          <p:nvPr/>
        </p:nvSpPr>
        <p:spPr>
          <a:xfrm>
            <a:off x="4754880" y="2441448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50"/>
          </a:p>
        </p:txBody>
      </p:sp>
      <p:sp>
        <p:nvSpPr>
          <p:cNvPr id="10" name="Text 8"/>
          <p:cNvSpPr/>
          <p:nvPr/>
        </p:nvSpPr>
        <p:spPr>
          <a:xfrm>
            <a:off x="4754880" y="2843784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of the Project</a:t>
            </a:r>
            <a:endParaRPr lang="en-US" sz="1150"/>
          </a:p>
        </p:txBody>
      </p:sp>
      <p:sp>
        <p:nvSpPr>
          <p:cNvPr id="11" name="Text 9"/>
          <p:cNvSpPr/>
          <p:nvPr/>
        </p:nvSpPr>
        <p:spPr>
          <a:xfrm>
            <a:off x="4754880" y="324612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Video of Project</a:t>
            </a:r>
            <a:endParaRPr lang="en-US" sz="1150"/>
          </a:p>
        </p:txBody>
      </p:sp>
      <p:sp>
        <p:nvSpPr>
          <p:cNvPr id="12" name="Text 10"/>
          <p:cNvSpPr/>
          <p:nvPr/>
        </p:nvSpPr>
        <p:spPr>
          <a:xfrm>
            <a:off x="4754880" y="3648456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50"/>
          </a:p>
        </p:txBody>
      </p:sp>
      <p:sp>
        <p:nvSpPr>
          <p:cNvPr id="13" name="Text 11"/>
          <p:cNvSpPr/>
          <p:nvPr/>
        </p:nvSpPr>
        <p:spPr>
          <a:xfrm>
            <a:off x="4754880" y="405079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Future Scope</a:t>
            </a:r>
            <a:endParaRPr lang="en-US" sz="1150"/>
          </a:p>
        </p:txBody>
      </p:sp>
      <p:sp>
        <p:nvSpPr>
          <p:cNvPr id="14" name="Text 12"/>
          <p:cNvSpPr/>
          <p:nvPr/>
        </p:nvSpPr>
        <p:spPr>
          <a:xfrm>
            <a:off x="320040" y="1179576"/>
            <a:ext cx="4251960" cy="3529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dirty="0"/>
              <a:t>The project can be enhanced by integrating real-time HR data for automatic updates and adding predictive analytics to forecast payroll trends. Additional features like detailed employee attributes and role-based dashboards can improve analysis. Integration with AI for natural language queries and deployment on cloud platforms can further increase scalability, accessibility, and usability.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846320" y="777240"/>
            <a:ext cx="3931920" cy="3931920"/>
          </a:xfrm>
          <a:prstGeom prst="rect">
            <a:avLst/>
          </a:prstGeom>
          <a:solidFill>
            <a:srgbClr val="F7F9FC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914400"/>
            <a:ext cx="39319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0">
                <a:solidFill>
                  <a:srgbClr val="000000"/>
                </a:solidFill>
              </a:rPr>
              <a:t>🧠</a:t>
            </a:r>
            <a:endParaRPr lang="en-US" sz="10000"/>
          </a:p>
        </p:txBody>
      </p:sp>
      <p:sp>
        <p:nvSpPr>
          <p:cNvPr id="17" name="Text 15"/>
          <p:cNvSpPr/>
          <p:nvPr/>
        </p:nvSpPr>
        <p:spPr>
          <a:xfrm>
            <a:off x="4846320" y="37033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[Future ideas &amp; roadmap]</a:t>
            </a:r>
            <a:endParaRPr lang="en-US" sz="1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3" name="Text 1"/>
          <p:cNvSpPr/>
          <p:nvPr/>
        </p:nvSpPr>
        <p:spPr>
          <a:xfrm>
            <a:off x="6305973" y="45720"/>
            <a:ext cx="2746587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/>
          </a:p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7200"/>
          </a:p>
        </p:txBody>
      </p:sp>
      <p:sp>
        <p:nvSpPr>
          <p:cNvPr id="5" name="Text 3"/>
          <p:cNvSpPr/>
          <p:nvPr/>
        </p:nvSpPr>
        <p:spPr>
          <a:xfrm>
            <a:off x="914400" y="30175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20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AICW Fellowship  |  Student Project Presentation 2026</a:t>
            </a:r>
            <a:endParaRPr lang="en-US" sz="1400"/>
          </a:p>
        </p:txBody>
      </p:sp>
      <p:sp>
        <p:nvSpPr>
          <p:cNvPr id="6" name="Text 4"/>
          <p:cNvSpPr/>
          <p:nvPr/>
        </p:nvSpPr>
        <p:spPr>
          <a:xfrm>
            <a:off x="914400" y="3566160"/>
            <a:ext cx="73152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07D8B"/>
                </a:solidFill>
                <a:latin typeface="Calibri"/>
                <a:ea typeface="Calibri"/>
                <a:cs typeface="Calibri"/>
              </a:rPr>
              <a:t>  LinkedIn  |   Edunet Foundation</a:t>
            </a:r>
            <a:endParaRPr lang="en-US" sz="1100"/>
          </a:p>
        </p:txBody>
      </p:sp>
      <p:sp>
        <p:nvSpPr>
          <p:cNvPr id="7" name="Shape 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3A8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872</Words>
  <Application>Microsoft Office PowerPoint</Application>
  <PresentationFormat>On-screen Show (16:9)</PresentationFormat>
  <Paragraphs>186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AICW Student Project Presentation Template 2026</dc:title>
  <dc:subject>PptxGenJS Presentation</dc:subject>
  <dc:creator>PptxGenJS</dc:creator>
  <cp:lastModifiedBy>Rakesh Pahwa</cp:lastModifiedBy>
  <cp:revision>3</cp:revision>
  <dcterms:created xsi:type="dcterms:W3CDTF">2026-02-18T09:17:23Z</dcterms:created>
  <dcterms:modified xsi:type="dcterms:W3CDTF">2026-04-10T10:47:20Z</dcterms:modified>
</cp:coreProperties>
</file>