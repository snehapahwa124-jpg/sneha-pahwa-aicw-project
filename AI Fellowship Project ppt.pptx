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custDataLst>
    <p:tags r:id="rId1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CBDC38-0F0C-EF0A-5169-FC033B4B9FA1}" v="4" dt="2026-02-19T06:35:51.132"/>
    <p1510:client id="{DDC0B4EE-2D5D-447B-AE11-6BA75CAE74F0}" v="57" dt="2026-02-19T11:04:26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01"/>
      </p:cViewPr>
      <p:guideLst>
        <p:guide orient="horz" pos="612"/>
        <p:guide orient="horz" pos="852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5203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A68FA2BF-9B6A-948D-43A3-04C207F5B33C}"/>
              </a:ext>
            </a:extLst>
          </p:cNvPr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8B83B97F-BA22-827B-E1BD-8DD9E1D3E0F6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>
              <a:extLst>
                <a:ext uri="{FF2B5EF4-FFF2-40B4-BE49-F238E27FC236}">
                  <a16:creationId xmlns:a16="http://schemas.microsoft.com/office/drawing/2014/main" id="{FC94FAC8-E161-FF7D-84BF-C498EADA502D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1988876B-43B4-642F-AB10-8B137A34386D}"/>
              </a:ext>
            </a:extLst>
          </p:cNvPr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613EFC18-F90F-C121-3F09-53AB8141D658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D81422F7-8BE4-EC53-5307-9812E24315C1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31AC86FC-94F1-13A5-98FD-3215960D2A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BBAA9FE-14A6-3635-BDE0-21E75B60255D}"/>
              </a:ext>
            </a:extLst>
          </p:cNvPr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1C7EC6-7D4C-F061-CDE0-6A50914ECB9E}"/>
              </a:ext>
            </a:extLst>
          </p:cNvPr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14E0FB1-7343-AA0B-7107-6EF9941BD391}"/>
              </a:ext>
            </a:extLst>
          </p:cNvPr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AFFC971-D518-DC63-82CA-066EEEE8BD9D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F1F892B-32CB-D20F-CD5E-29D9DD282E0B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AF039C7-166F-DC3C-FD40-F2CACE3926F2}"/>
              </a:ext>
            </a:extLst>
          </p:cNvPr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B6CD3B7-9C29-31B7-074F-1C8E56CB1626}"/>
              </a:ext>
            </a:extLst>
          </p:cNvPr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0B8BCE7-F5DB-C74D-120E-15FE119805F6}"/>
              </a:ext>
            </a:extLst>
          </p:cNvPr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ABF0622-9241-CD75-6B4F-4578A248FF9B}"/>
              </a:ext>
            </a:extLst>
          </p:cNvPr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A81DF20-399E-AF89-89B0-FC2CA2FD01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40C2189F-9BF3-791F-6AA1-3475C52DFABC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79637531-A44E-C462-F403-761C10B95F61}"/>
              </a:ext>
            </a:extLst>
          </p:cNvPr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DCD7CC8C-164D-C41A-6252-42C99A05871B}"/>
              </a:ext>
            </a:extLst>
          </p:cNvPr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8672D197-9BF9-8CFA-6DF7-2937B68FFD86}"/>
              </a:ext>
            </a:extLst>
          </p:cNvPr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9CDC51-FF0E-F171-6762-BB19A05B4D8E}"/>
              </a:ext>
            </a:extLst>
          </p:cNvPr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EEE29F0A-1253-B8CE-E742-41B8B6EB922D}"/>
              </a:ext>
            </a:extLst>
          </p:cNvPr>
          <p:cNvSpPr txBox="1"/>
          <p:nvPr/>
        </p:nvSpPr>
        <p:spPr>
          <a:xfrm>
            <a:off x="854979" y="3645023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Name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2E9FAC26-1E84-D690-0FD4-B1A364AF40DE}"/>
              </a:ext>
            </a:extLst>
          </p:cNvPr>
          <p:cNvSpPr txBox="1"/>
          <p:nvPr/>
        </p:nvSpPr>
        <p:spPr>
          <a:xfrm>
            <a:off x="854979" y="3806607"/>
            <a:ext cx="1633432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Sneha Pahwa</a:t>
            </a:r>
          </a:p>
        </p:txBody>
      </p:sp>
      <p:pic>
        <p:nvPicPr>
          <p:cNvPr id="50" name="Picture 49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757" t="2453" r="27842" b="53701"/>
          <a:stretch>
            <a:fillRect/>
          </a:stretch>
        </p:blipFill>
        <p:spPr>
          <a:xfrm>
            <a:off x="429808" y="3639905"/>
            <a:ext cx="395331" cy="381795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:a16="http://schemas.microsoft.com/office/drawing/2014/main" id="{3403BDBE-05E2-50C5-0F55-4F0483352E2C}"/>
              </a:ext>
            </a:extLst>
          </p:cNvPr>
          <p:cNvSpPr txBox="1"/>
          <p:nvPr/>
        </p:nvSpPr>
        <p:spPr>
          <a:xfrm>
            <a:off x="3176086" y="3642226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Email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B84F91E2-C42E-10B3-A03A-88AA58AF1258}"/>
              </a:ext>
            </a:extLst>
          </p:cNvPr>
          <p:cNvSpPr txBox="1"/>
          <p:nvPr/>
        </p:nvSpPr>
        <p:spPr>
          <a:xfrm>
            <a:off x="3176086" y="3803810"/>
            <a:ext cx="2272871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snehapahwa124@gmail.com</a:t>
            </a:r>
          </a:p>
        </p:txBody>
      </p:sp>
      <p:pic>
        <p:nvPicPr>
          <p:cNvPr id="51" name="Picture 50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859" t="52379" r="26874" b="2349"/>
          <a:stretch>
            <a:fillRect/>
          </a:stretch>
        </p:blipFill>
        <p:spPr>
          <a:xfrm>
            <a:off x="2747249" y="3631981"/>
            <a:ext cx="398279" cy="38971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58A7A12-122B-4A3C-11D3-C4D8BF732077}"/>
              </a:ext>
            </a:extLst>
          </p:cNvPr>
          <p:cNvGrpSpPr/>
          <p:nvPr/>
        </p:nvGrpSpPr>
        <p:grpSpPr>
          <a:xfrm>
            <a:off x="860459" y="4337076"/>
            <a:ext cx="2272871" cy="389019"/>
            <a:chOff x="3139699" y="4295282"/>
            <a:chExt cx="2272871" cy="389019"/>
          </a:xfrm>
        </p:grpSpPr>
        <p:sp>
          <p:nvSpPr>
            <p:cNvPr id="67" name="TextBox 41">
              <a:extLst>
                <a:ext uri="{FF2B5EF4-FFF2-40B4-BE49-F238E27FC236}">
                  <a16:creationId xmlns:a16="http://schemas.microsoft.com/office/drawing/2014/main" id="{5FE6F280-D970-382B-5260-25E219F86722}"/>
                </a:ext>
              </a:extLst>
            </p:cNvPr>
            <p:cNvSpPr txBox="1"/>
            <p:nvPr/>
          </p:nvSpPr>
          <p:spPr>
            <a:xfrm>
              <a:off x="3139699" y="4295282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6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</a:p>
          </p:txBody>
        </p:sp>
        <p:sp>
          <p:nvSpPr>
            <p:cNvPr id="68" name="TextBox 43">
              <a:extLst>
                <a:ext uri="{FF2B5EF4-FFF2-40B4-BE49-F238E27FC236}">
                  <a16:creationId xmlns:a16="http://schemas.microsoft.com/office/drawing/2014/main" id="{A541DFB6-306C-CD3E-24BD-6D7131F87B73}"/>
                </a:ext>
              </a:extLst>
            </p:cNvPr>
            <p:cNvSpPr txBox="1"/>
            <p:nvPr/>
          </p:nvSpPr>
          <p:spPr>
            <a:xfrm>
              <a:off x="3139699" y="4456866"/>
              <a:ext cx="2272871" cy="2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38"/>
                </a:lnSpc>
              </a:pPr>
              <a:r>
                <a:rPr lang="en-US" sz="1200" b="1" dirty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Ankit Dixit</a:t>
              </a: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109" t="6546" r="28551" b="49509"/>
          <a:stretch>
            <a:fillRect/>
          </a:stretch>
        </p:blipFill>
        <p:spPr>
          <a:xfrm>
            <a:off x="447718" y="4346948"/>
            <a:ext cx="375815" cy="381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8150B14-0B49-9E22-C961-786A40F27A84}"/>
              </a:ext>
            </a:extLst>
          </p:cNvPr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>
              <a:extLst>
                <a:ext uri="{FF2B5EF4-FFF2-40B4-BE49-F238E27FC236}">
                  <a16:creationId xmlns:a16="http://schemas.microsoft.com/office/drawing/2014/main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>
            <a:extLst>
              <a:ext uri="{FF2B5EF4-FFF2-40B4-BE49-F238E27FC236}">
                <a16:creationId xmlns:a16="http://schemas.microsoft.com/office/drawing/2014/main" id="{4DEADC42-07CF-F7CC-6F54-42498EAA37B3}"/>
              </a:ext>
            </a:extLst>
          </p:cNvPr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51B3A474-02DA-6A59-3FFF-434FDDC06A2B}"/>
              </a:ext>
            </a:extLst>
          </p:cNvPr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075C146A-525E-EAB1-2438-92AF6E344C2C}"/>
              </a:ext>
            </a:extLst>
          </p:cNvPr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ED47441A-C600-ACAC-5391-EF118874C98C}"/>
              </a:ext>
            </a:extLst>
          </p:cNvPr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19729"/>
          <a:stretch>
            <a:fillRect/>
          </a:stretch>
        </p:blipFill>
        <p:spPr>
          <a:xfrm>
            <a:off x="173754" y="1046557"/>
            <a:ext cx="3854253" cy="184953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Outline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865657-EE51-429D-40B6-B64C80E4AB47}"/>
              </a:ext>
            </a:extLst>
          </p:cNvPr>
          <p:cNvSpPr txBox="1"/>
          <p:nvPr/>
        </p:nvSpPr>
        <p:spPr>
          <a:xfrm>
            <a:off x="125239" y="1080603"/>
            <a:ext cx="4446761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Abstract of the Project</a:t>
            </a:r>
            <a:endParaRPr lang="en-IN" sz="1800" dirty="0">
              <a:solidFill>
                <a:schemeClr val="tx1"/>
              </a:solidFill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Problem Statement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Proposed Solution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System Architecture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Live Demo of the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Embedded Video of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Conclusion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Future Scope</a:t>
            </a:r>
          </a:p>
        </p:txBody>
      </p:sp>
      <p:pic>
        <p:nvPicPr>
          <p:cNvPr id="25" name="Picture 2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3A7F110-9D19-8523-45D3-77B1951C883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378824" y="1034325"/>
            <a:ext cx="2868706" cy="32900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49028-F25C-7DA0-DE56-0DC142EECABD}"/>
              </a:ext>
            </a:extLst>
          </p:cNvPr>
          <p:cNvSpPr txBox="1"/>
          <p:nvPr/>
        </p:nvSpPr>
        <p:spPr>
          <a:xfrm>
            <a:off x="125240" y="1046432"/>
            <a:ext cx="5002346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project </a:t>
            </a:r>
            <a:r>
              <a:rPr lang="en-US" sz="1600" b="1" dirty="0"/>
              <a:t>“Smart Payroll Insights: Transforming HR Data into Financial Intelligence”</a:t>
            </a:r>
            <a:r>
              <a:rPr lang="en-US" sz="1600" dirty="0"/>
              <a:t> aims to clean, analyze, and convert payroll data into meaningful financial insights.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objective is to improve payroll accuracy, transparency, and decision-making in HR and finance.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Tools used include </a:t>
            </a:r>
            <a:r>
              <a:rPr lang="en-US" sz="1600" b="1" dirty="0"/>
              <a:t>Microsoft Excel</a:t>
            </a:r>
            <a:r>
              <a:rPr lang="en-US" sz="1600" dirty="0"/>
              <a:t> for data cleaning and analysis, </a:t>
            </a:r>
            <a:r>
              <a:rPr lang="en-US" sz="1600" b="1" dirty="0"/>
              <a:t>Power BI</a:t>
            </a:r>
            <a:r>
              <a:rPr lang="en-US" sz="1600" dirty="0"/>
              <a:t> for visualization, and </a:t>
            </a:r>
            <a:r>
              <a:rPr lang="en-US" sz="1600" b="1" dirty="0"/>
              <a:t>AI tools like </a:t>
            </a:r>
            <a:r>
              <a:rPr lang="en-US" sz="1600" b="1" dirty="0" err="1"/>
              <a:t>Chatgpt</a:t>
            </a:r>
            <a:r>
              <a:rPr lang="en-US" sz="1600" dirty="0"/>
              <a:t> for automation and insight generation.</a:t>
            </a:r>
          </a:p>
          <a:p>
            <a:endParaRPr lang="en-US" sz="1600" dirty="0"/>
          </a:p>
          <a:p>
            <a:r>
              <a:rPr lang="en-US" sz="1400" dirty="0"/>
              <a:t>The project helps identify salary trends, payroll   expenses, and data errors, enabling better financial planning and workforce management.</a:t>
            </a:r>
          </a:p>
          <a:p>
            <a:r>
              <a:rPr lang="en-US" sz="1400" dirty="0"/>
              <a:t>A key highlight is the integration of AI with traditional tools to create an efficient, data-driven payroll analysis system.</a:t>
            </a:r>
          </a:p>
          <a:p>
            <a:pPr>
              <a:spcAft>
                <a:spcPts val="800"/>
              </a:spcAft>
              <a:tabLst>
                <a:tab pos="4229100" algn="ctr"/>
              </a:tabLst>
            </a:pPr>
            <a:endParaRPr lang="en-US" sz="1800" dirty="0">
              <a:solidFill>
                <a:schemeClr val="tx1"/>
              </a:solidFill>
              <a:effectLst/>
              <a:latin typeface="Lato" panose="020F0502020204030203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reeform 28">
            <a:extLst>
              <a:ext uri="{FF2B5EF4-FFF2-40B4-BE49-F238E27FC236}">
                <a16:creationId xmlns:a16="http://schemas.microsoft.com/office/drawing/2014/main" id="{AA7F05EE-340D-A58A-BAD0-FB0660B2D339}"/>
              </a:ext>
            </a:extLst>
          </p:cNvPr>
          <p:cNvSpPr/>
          <p:nvPr/>
        </p:nvSpPr>
        <p:spPr>
          <a:xfrm>
            <a:off x="5814470" y="1082801"/>
            <a:ext cx="3070450" cy="2997875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B2E24-A610-1C01-FCDD-9B6B67A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151" y="873760"/>
            <a:ext cx="3947240" cy="394724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6AC24-5CB7-D860-6A01-E6D8ABD38610}"/>
              </a:ext>
            </a:extLst>
          </p:cNvPr>
          <p:cNvSpPr txBox="1"/>
          <p:nvPr/>
        </p:nvSpPr>
        <p:spPr>
          <a:xfrm>
            <a:off x="125240" y="1082801"/>
            <a:ext cx="476291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Core Problem:</a:t>
            </a:r>
            <a:r>
              <a:rPr lang="en-US" dirty="0"/>
              <a:t> Unstructured and error-prone payroll data limits accurate analysis and decision-making. </a:t>
            </a:r>
          </a:p>
          <a:p>
            <a:r>
              <a:rPr lang="en-US" b="1" dirty="0"/>
              <a:t>Significance:</a:t>
            </a:r>
            <a:r>
              <a:rPr lang="en-US" dirty="0"/>
              <a:t> Leads to salary errors, compliance risks, and reduced employee trust. </a:t>
            </a:r>
          </a:p>
          <a:p>
            <a:r>
              <a:rPr lang="en-US" b="1" dirty="0"/>
              <a:t>Affected Users:</a:t>
            </a:r>
            <a:r>
              <a:rPr lang="en-US" dirty="0"/>
              <a:t> HR teams, finance departments, employees, and management. </a:t>
            </a:r>
          </a:p>
          <a:p>
            <a:r>
              <a:rPr lang="en-US" b="1" dirty="0"/>
              <a:t>Limitations:</a:t>
            </a:r>
            <a:r>
              <a:rPr lang="en-US" dirty="0"/>
              <a:t> Manual processes, low transparency, and limited use of analytics/AI tools. </a:t>
            </a:r>
          </a:p>
          <a:p>
            <a:r>
              <a:rPr lang="en-US" b="1" dirty="0"/>
              <a:t>Scope:</a:t>
            </a:r>
            <a:r>
              <a:rPr lang="en-US" dirty="0"/>
              <a:t> Focus on data cleaning, analysis, and visualization using Excel, Power BI, and AI tools (no advanced ML or real-time systems). </a:t>
            </a:r>
          </a:p>
          <a:p>
            <a:pPr>
              <a:spcAft>
                <a:spcPts val="800"/>
              </a:spcAft>
              <a:tabLst>
                <a:tab pos="4229100" algn="ctr"/>
              </a:tabLst>
            </a:pPr>
            <a:endParaRPr lang="en-US" dirty="0">
              <a:solidFill>
                <a:schemeClr val="tx1"/>
              </a:solidFill>
              <a:effectLst/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F49F94-4102-44CC-056B-FA1BB4DA8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286" y="812379"/>
            <a:ext cx="4903714" cy="4203183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5486" y="455429"/>
            <a:ext cx="8229600" cy="6004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25486" y="2082813"/>
            <a:ext cx="441615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0CEED4A-401C-2F7F-1BF7-378B29A52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33197"/>
            <a:ext cx="6513342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Approach: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Transform raw payroll data into structured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financial insights using data cleaning, analysis, and visualization.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Methodology: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collection → cleaning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(remove duplicates, handle missing values)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analysis (formulas) → dashboard creation.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 Used: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Microsoft Excel, Power BI, and AI tools 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Chatgpt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Steps: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preprocessing, payroll analysis, trend identification,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interactive dashboard development.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Benefits: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Improved accuracy, better transparency, reduced errors,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data-driven decision-making.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Innovation: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Integration of AI tools with traditional Excel-based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analysis for faster and smarter insights. 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System Architecture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540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6732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684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Data Input / Source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6848" y="1700400"/>
            <a:ext cx="4023360" cy="11061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Raw payroll dataset generated using ChatGPT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Dataset stored in Excel format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Fields include: Department, Job Role, Designation, Basic Pay, allowances, Gross salary Deductions, Net Salary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Used as the primary data source for payroll analysis </a:t>
            </a:r>
          </a:p>
          <a:p>
            <a:pPr marL="0" indent="0">
              <a:buNone/>
            </a:pPr>
            <a:endParaRPr lang="en-US" sz="1600" dirty="0">
              <a:solidFill>
                <a:srgbClr val="1A1A2E"/>
              </a:solidFill>
              <a:latin typeface="Lato" panose="020F0502020204030203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7024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sz="160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0216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6168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Processing / Analysis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6168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Data cleaned in Excel (duplicates removed, </a:t>
            </a:r>
            <a:r>
              <a:rPr lang="en-IN" sz="1100" dirty="0"/>
              <a:t>missing values handled)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Data types corrected (numeric fields formatted properly)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Calculated measures created in Power BI using DAX:</a:t>
            </a:r>
          </a:p>
          <a:p>
            <a:r>
              <a:rPr lang="en-US" sz="1100" dirty="0"/>
              <a:t>        Total Payroll Cost </a:t>
            </a:r>
          </a:p>
          <a:p>
            <a:r>
              <a:rPr lang="en-US" sz="1100" dirty="0"/>
              <a:t>        Average Salary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Data aggregated for department-wise and role-wise analysis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540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6732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684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 / Tool Integration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684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ChatGPT used to generate and structure the dataset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Excel used for initial data cleaning and preprocessing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Power BI used for data modeling and visualization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DAX used for KPI calculations and insights generation</a:t>
            </a:r>
          </a:p>
          <a:p>
            <a:endParaRPr lang="en-US" sz="12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7024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0216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6168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Output /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61688" y="3427056"/>
            <a:ext cx="4023360" cy="14051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Interactive Power BI Dashboard created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KPIs displayed: Total Payroll Cost, Total Employees,</a:t>
            </a:r>
          </a:p>
          <a:p>
            <a:r>
              <a:rPr lang="en-IN" sz="1200" dirty="0"/>
              <a:t>      Average Salary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Visuals include:</a:t>
            </a:r>
          </a:p>
          <a:p>
            <a:r>
              <a:rPr lang="en-US" sz="1200" dirty="0"/>
              <a:t>      Department-wise Payroll (Clustered Column Chart) </a:t>
            </a:r>
          </a:p>
          <a:p>
            <a:r>
              <a:rPr lang="en-US" sz="1200" dirty="0"/>
              <a:t>      Top Departments by Cost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Slicers added: Department, Designation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623" y="60729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Live Demo of Project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487" y="1105839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Here's the list of some demo screenshots / features of the project: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78408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2196877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" y="2223662"/>
            <a:ext cx="2788920" cy="601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1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922776" y="1648237"/>
            <a:ext cx="1371600" cy="1371600"/>
          </a:xfrm>
          <a:prstGeom prst="ellipse">
            <a:avLst/>
          </a:prstGeom>
          <a:solidFill>
            <a:srgbClr val="FFC00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18688" y="2196877"/>
            <a:ext cx="2788920" cy="2651760"/>
          </a:xfrm>
          <a:prstGeom prst="rect">
            <a:avLst/>
          </a:prstGeom>
          <a:solidFill>
            <a:srgbClr val="FDF3E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18688" y="2223663"/>
            <a:ext cx="2788920" cy="601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2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55848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67144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67144" y="1648237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63056" y="2200479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63056" y="2223663"/>
            <a:ext cx="2788920" cy="601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3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00216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E8A2FE-2EF7-22DA-5497-E3DEE370B8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699089"/>
            <a:ext cx="2779776" cy="215315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95AE07F-DB74-AFD4-769C-2645E2C33E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8688" y="2699089"/>
            <a:ext cx="2788920" cy="215315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E543233-B70D-49A6-3F16-650EBD6570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4768" y="2713940"/>
            <a:ext cx="2807208" cy="213469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0" y="777240"/>
            <a:ext cx="5029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89888" y="768096"/>
            <a:ext cx="4992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[https://your-project-demo-link.com]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</a:rPr>
              <a:t>▶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your project demo video.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embed a video your live project.]</a:t>
            </a:r>
            <a:endParaRPr lang="en-US" sz="1100" dirty="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1" y="61206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5486" y="1084927"/>
            <a:ext cx="4446513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/>
              <a:t>This project developed an interactive payroll dashboard using Excel and Power BI to analyze employee salary data.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Key KPIs like Total Payroll Cost, Average Salary, and Total Employees were created, along with visualizations for department-wise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dashboard helps identify high-cost areas and supports better decision-making. Overall, the project successfully achieved its objectives and demonstrates the value of data analytics in improving payroll management and organizational planning.</a:t>
            </a:r>
          </a:p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Lato" panose="020F0502020204030203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>
              <a:latin typeface="Lato" panose="020F0502020204030203" pitchFamily="34" charset="0"/>
            </a:endParaRPr>
          </a:p>
        </p:txBody>
      </p:sp>
      <p:pic>
        <p:nvPicPr>
          <p:cNvPr id="20" name="Picture 19" descr="A blue circle with a pencil and paper with a star on it&#10;&#10;AI-generated content may be incorrect.">
            <a:extLst>
              <a:ext uri="{FF2B5EF4-FFF2-40B4-BE49-F238E27FC236}">
                <a16:creationId xmlns:a16="http://schemas.microsoft.com/office/drawing/2014/main" id="{BAE68F53-65EE-1751-E92D-7025D978B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4898406" y="971550"/>
            <a:ext cx="3597456" cy="330935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3247" y="613561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247" y="1082104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/>
              <a:t>The project can be enhanced by integrating real-time HR data for automatic updates and adding predictive analytics to forecast payroll trends. Additional features like detailed employee attributes and role-based dashboards can improve analysis. Integration with AI for natural language queries and deployment on cloud platforms can further increase scalability, accessibility, and usability.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2449DB-BF51-DAAE-EA83-F4C008967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635" y="879613"/>
            <a:ext cx="4512365" cy="338427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 LinkedIn  |   </a:t>
            </a:r>
            <a:r>
              <a:rPr lang="en-US" sz="1100" dirty="0" err="1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Edunet</a:t>
            </a: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F7A740B1-0782-B37E-5F62-503024E32BC9}"/>
              </a:ext>
            </a:extLst>
          </p:cNvPr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6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ROGxgyxs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</TotalTime>
  <Words>741</Words>
  <Application>Microsoft Office PowerPoint</Application>
  <PresentationFormat>On-screen Show (16:9)</PresentationFormat>
  <Paragraphs>103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Rakesh Pahwa</cp:lastModifiedBy>
  <cp:revision>26</cp:revision>
  <dcterms:created xsi:type="dcterms:W3CDTF">2026-02-18T09:17:23Z</dcterms:created>
  <dcterms:modified xsi:type="dcterms:W3CDTF">2026-04-03T18:59:51Z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</Properties>
</file>